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F172A"/>
                </a:solidFill>
                <a:latin typeface="Calibri"/>
              </a:defRPr>
            </a:pPr>
            <a:r>
              <a:rPr sz="1600" b="0" i="0" u="none" strike="noStrike">
                <a:solidFill>
                  <a:srgbClr val="0F172A"/>
                </a:solidFill>
                <a:latin typeface="Calibri"/>
              </a:rPr>
              <a:t>Distribuição do lucro (curva normal)</a:t>
            </a:r>
          </a:p>
        </c:rich>
      </c:tx>
      <c:layout/>
      <c:overlay val="0"/>
    </c:title>
    <c:autoTitleDeleted val="0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Densidade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Sheet1!$A$2:$A$42</c:f>
              <c:multiLvlStrCache>
                <c:ptCount val="41"/>
                <c:lvl>
                  <c:pt idx="0">
                    <c:v> </c:v>
                  </c:pt>
                  <c:pt idx="1">
                    <c:v> </c:v>
                  </c:pt>
                  <c:pt idx="2">
                    <c:v> </c:v>
                  </c:pt>
                  <c:pt idx="3">
                    <c:v> </c:v>
                  </c:pt>
                  <c:pt idx="4">
                    <c:v> </c:v>
                  </c:pt>
                  <c:pt idx="5">
                    <c:v> </c:v>
                  </c:pt>
                  <c:pt idx="6">
                    <c:v> </c:v>
                  </c:pt>
                  <c:pt idx="7">
                    <c:v> </c:v>
                  </c:pt>
                  <c:pt idx="8">
                    <c:v> </c:v>
                  </c:pt>
                  <c:pt idx="9">
                    <c:v> </c:v>
                  </c:pt>
                  <c:pt idx="10">
                    <c:v> </c:v>
                  </c:pt>
                  <c:pt idx="11">
                    <c:v> </c:v>
                  </c:pt>
                  <c:pt idx="12">
                    <c:v> </c:v>
                  </c:pt>
                  <c:pt idx="13">
                    <c:v> </c:v>
                  </c:pt>
                  <c:pt idx="14">
                    <c:v> </c:v>
                  </c:pt>
                  <c:pt idx="15">
                    <c:v> </c:v>
                  </c:pt>
                  <c:pt idx="16">
                    <c:v> </c:v>
                  </c:pt>
                  <c:pt idx="17">
                    <c:v> </c:v>
                  </c:pt>
                  <c:pt idx="18">
                    <c:v> </c:v>
                  </c:pt>
                  <c:pt idx="19">
                    <c:v> </c:v>
                  </c:pt>
                  <c:pt idx="20">
                    <c:v>média</c:v>
                  </c:pt>
                  <c:pt idx="21">
                    <c:v> </c:v>
                  </c:pt>
                  <c:pt idx="22">
                    <c:v> </c:v>
                  </c:pt>
                  <c:pt idx="23">
                    <c:v> </c:v>
                  </c:pt>
                  <c:pt idx="24">
                    <c:v> </c:v>
                  </c:pt>
                  <c:pt idx="25">
                    <c:v> </c:v>
                  </c:pt>
                  <c:pt idx="26">
                    <c:v> </c:v>
                  </c:pt>
                  <c:pt idx="27">
                    <c:v> </c:v>
                  </c:pt>
                  <c:pt idx="28">
                    <c:v> </c:v>
                  </c:pt>
                  <c:pt idx="29">
                    <c:v> </c:v>
                  </c:pt>
                  <c:pt idx="30">
                    <c:v> </c:v>
                  </c:pt>
                  <c:pt idx="31">
                    <c:v> </c:v>
                  </c:pt>
                  <c:pt idx="32">
                    <c:v> </c:v>
                  </c:pt>
                  <c:pt idx="33">
                    <c:v> </c:v>
                  </c:pt>
                  <c:pt idx="34">
                    <c:v> </c:v>
                  </c:pt>
                  <c:pt idx="35">
                    <c:v> </c:v>
                  </c:pt>
                  <c:pt idx="36">
                    <c:v> </c:v>
                  </c:pt>
                  <c:pt idx="37">
                    <c:v> </c:v>
                  </c:pt>
                  <c:pt idx="38">
                    <c:v> </c:v>
                  </c:pt>
                  <c:pt idx="39">
                    <c:v> </c:v>
                  </c:pt>
                  <c:pt idx="40">
                    <c:v> </c:v>
                  </c:pt>
                </c:lvl>
              </c:multiLvlStrCache>
            </c:multiLvl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0.00013383022576488537</c:v>
                </c:pt>
                <c:pt idx="1">
                  <c:v>0.00029194692579146027</c:v>
                </c:pt>
                <c:pt idx="2">
                  <c:v>0.0006119019301137719</c:v>
                </c:pt>
                <c:pt idx="3">
                  <c:v>0.00123221916847302</c:v>
                </c:pt>
                <c:pt idx="4">
                  <c:v>0.0023840882014648404</c:v>
                </c:pt>
                <c:pt idx="5">
                  <c:v>0.0044318484119380075</c:v>
                </c:pt>
                <c:pt idx="6">
                  <c:v>0.007915451582979969</c:v>
                </c:pt>
                <c:pt idx="7">
                  <c:v>0.01358296923368563</c:v>
                </c:pt>
                <c:pt idx="8">
                  <c:v>0.0223945302948429</c:v>
                </c:pt>
                <c:pt idx="9">
                  <c:v>0.035474592846231424</c:v>
                </c:pt>
                <c:pt idx="10">
                  <c:v>0.05399096651318806</c:v>
                </c:pt>
                <c:pt idx="11">
                  <c:v>0.07895015830089419</c:v>
                </c:pt>
                <c:pt idx="12">
                  <c:v>0.11092083467945564</c:v>
                </c:pt>
                <c:pt idx="13">
                  <c:v>0.14972746563574488</c:v>
                </c:pt>
                <c:pt idx="14">
                  <c:v>0.19418605498321304</c:v>
                </c:pt>
                <c:pt idx="15">
                  <c:v>0.24197072451914337</c:v>
                </c:pt>
                <c:pt idx="16">
                  <c:v>0.28969155276148284</c:v>
                </c:pt>
                <c:pt idx="17">
                  <c:v>0.3332246028917997</c:v>
                </c:pt>
                <c:pt idx="18">
                  <c:v>0.3682701403033234</c:v>
                </c:pt>
                <c:pt idx="19">
                  <c:v>0.39104269397545594</c:v>
                </c:pt>
                <c:pt idx="20">
                  <c:v>0.3989422804014327</c:v>
                </c:pt>
                <c:pt idx="21">
                  <c:v>0.3910426939754559</c:v>
                </c:pt>
                <c:pt idx="22">
                  <c:v>0.3682701403033233</c:v>
                </c:pt>
                <c:pt idx="23">
                  <c:v>0.33322460289179956</c:v>
                </c:pt>
                <c:pt idx="24">
                  <c:v>0.2896915527614826</c:v>
                </c:pt>
                <c:pt idx="25">
                  <c:v>0.24197072451914337</c:v>
                </c:pt>
                <c:pt idx="26">
                  <c:v>0.19418605498321292</c:v>
                </c:pt>
                <c:pt idx="27">
                  <c:v>0.1497274656357448</c:v>
                </c:pt>
                <c:pt idx="28">
                  <c:v>0.11092083467945546</c:v>
                </c:pt>
                <c:pt idx="29">
                  <c:v>0.07895015830089407</c:v>
                </c:pt>
                <c:pt idx="30">
                  <c:v>0.05399096651318806</c:v>
                </c:pt>
                <c:pt idx="31">
                  <c:v>0.035474592846231424</c:v>
                </c:pt>
                <c:pt idx="32">
                  <c:v>0.022394530294842882</c:v>
                </c:pt>
                <c:pt idx="33">
                  <c:v>0.013582969233685602</c:v>
                </c:pt>
                <c:pt idx="34">
                  <c:v>0.007915451582979946</c:v>
                </c:pt>
                <c:pt idx="35">
                  <c:v>0.0044318484119380075</c:v>
                </c:pt>
                <c:pt idx="36">
                  <c:v>0.0023840882014648404</c:v>
                </c:pt>
                <c:pt idx="37">
                  <c:v>0.0012322191684730178</c:v>
                </c:pt>
                <c:pt idx="38">
                  <c:v>0.0006119019301137709</c:v>
                </c:pt>
                <c:pt idx="39">
                  <c:v>0.0002919469257914595</c:v>
                </c:pt>
                <c:pt idx="40">
                  <c:v>0.00013383022576488537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Neste projeto eu simulo várias empresas e uso estatística e Machine Learning para identificar empresas com lucro ou prejuízo.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Primeiro importo as bibliotecas que vou utilizar no projeto.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usuário escolhe quantas empresas serão simuladas. Depois o programa gera características aleatórias para cada empresa.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DataFrame funciona como uma tabela onde cada linha representa uma empresa.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Primeiro calculo quantos clientes realmente compraram. Depois multiplico pelo ticket médio para descobrir a receita.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Calculo os custos da empresa. O lucro é simplesmente a receita menos os custos.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Transformo o lucro em uma classificação. True significa lucro e False significa prejuízo.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Agora começo a analisar estatisticamente os dados. O describe fornece um resumo das principais características.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média mostra o valor médio dos dados. A mediana mostra o valor que fica no centro da distribuição.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desvio padrão mostra a dispersão dos dados. O histograma permite ver como os valores estão distribuídos. A curva em formato de sino é a distribuição normal (Gaussiana).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correlação mostra como duas variáveis estão relacionadas. Porém, correlação não significa necessariamente causa.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Agora utilizo uma árvore de decisão. Ela aprende padrões existentes nos dados para tentar classificar uma empresa.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Uso uma parte dos dados para treinar o modelo e outra parte para testar. A acurácia mostra a proporção de previsões corretas no conjunto de teste.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esse projeto eu passo por todas as etapas de uma análise de dados: geração, organização, análise estatística, visualização e um modelo preditivo.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Simulação e análise de empresas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603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Estatística + Machine Learning em Python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4206240"/>
            <a:ext cx="914400" cy="9144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4453128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42062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dados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474720" y="4206240"/>
            <a:ext cx="914400" cy="9144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608" y="4453128"/>
            <a:ext cx="420624" cy="42062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26280" y="42062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estatística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6217920" y="4206240"/>
            <a:ext cx="914400" cy="9144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4453128"/>
            <a:ext cx="420624" cy="42062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269480" y="42062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gráficos</a:t>
            </a:r>
            <a:endParaRPr lang="en-US" sz="1800" dirty="0"/>
          </a:p>
        </p:txBody>
      </p:sp>
      <p:sp>
        <p:nvSpPr>
          <p:cNvPr id="13" name="Shape 8"/>
          <p:cNvSpPr/>
          <p:nvPr/>
        </p:nvSpPr>
        <p:spPr>
          <a:xfrm>
            <a:off x="8961120" y="4206240"/>
            <a:ext cx="914400" cy="9144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8008" y="4453128"/>
            <a:ext cx="420624" cy="42062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012680" y="42062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Treinar um modelo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402336" cy="40233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0876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Bibliotecas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ferramentas que usamos.</a:t>
            </a:r>
            <a:endParaRPr lang="en-US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103120"/>
            <a:ext cx="6583680" cy="3931920"/>
          </a:xfrm>
          <a:prstGeom prst="roundRect">
            <a:avLst>
              <a:gd name="adj" fmla="val 2791"/>
            </a:avLst>
          </a:prstGeom>
          <a:solidFill>
            <a:srgbClr val="0F172A"/>
          </a:solidFill>
          <a:ln/>
        </p:spPr>
        <p:txBody>
          <a:bodyPr wrap="square" lIns="127000" tIns="203200" rIns="203200" bIns="12700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sklearn.tree import DecisionTreeClassifier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accuracy_score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7498080" y="2103120"/>
            <a:ext cx="41605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680960" y="2267712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832" y="2386584"/>
            <a:ext cx="310896" cy="31089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412480" y="21031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números</a:t>
            </a:r>
            <a:endParaRPr lang="en-US" sz="2000" dirty="0"/>
          </a:p>
        </p:txBody>
      </p:sp>
      <p:sp>
        <p:nvSpPr>
          <p:cNvPr id="12" name="Shape 7"/>
          <p:cNvSpPr/>
          <p:nvPr/>
        </p:nvSpPr>
        <p:spPr>
          <a:xfrm>
            <a:off x="7498080" y="3108960"/>
            <a:ext cx="41605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7680960" y="3273552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9832" y="3392424"/>
            <a:ext cx="310896" cy="31089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412480" y="31089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 os dados</a:t>
            </a:r>
            <a:endParaRPr lang="en-US" sz="2000" dirty="0"/>
          </a:p>
        </p:txBody>
      </p:sp>
      <p:sp>
        <p:nvSpPr>
          <p:cNvPr id="16" name="Shape 10"/>
          <p:cNvSpPr/>
          <p:nvPr/>
        </p:nvSpPr>
        <p:spPr>
          <a:xfrm>
            <a:off x="7498080" y="4114800"/>
            <a:ext cx="41605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7680960" y="4279392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9832" y="4398264"/>
            <a:ext cx="310896" cy="31089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412480" y="41148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gráficos</a:t>
            </a:r>
            <a:endParaRPr lang="en-US" sz="2000" dirty="0"/>
          </a:p>
        </p:txBody>
      </p:sp>
      <p:sp>
        <p:nvSpPr>
          <p:cNvPr id="20" name="Shape 13"/>
          <p:cNvSpPr/>
          <p:nvPr/>
        </p:nvSpPr>
        <p:spPr>
          <a:xfrm>
            <a:off x="7498080" y="5120640"/>
            <a:ext cx="41605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7680960" y="5285232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9832" y="5404104"/>
            <a:ext cx="310896" cy="310896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8412480" y="51206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402336" cy="40233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0876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Geração dos dados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escolhe quantas empresas. O programa cria os dados.</a:t>
            </a:r>
            <a:endParaRPr lang="en-US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194560"/>
            <a:ext cx="5852160" cy="1554480"/>
          </a:xfrm>
          <a:prstGeom prst="roundRect">
            <a:avLst>
              <a:gd name="adj" fmla="val 7059"/>
            </a:avLst>
          </a:prstGeom>
          <a:solidFill>
            <a:srgbClr val="0F172A"/>
          </a:solidFill>
          <a:ln/>
        </p:spPr>
        <p:txBody>
          <a:bodyPr wrap="square" lIns="127000" tIns="203200" rIns="203200" bIns="12700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simulacao = int(</a:t>
            </a:r>
            <a:endParaRPr lang="en-US" sz="1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input("Número de empresas a simular: ")</a:t>
            </a:r>
            <a:endParaRPr lang="en-US" sz="1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48640" y="4114800"/>
            <a:ext cx="5852160" cy="1371600"/>
          </a:xfrm>
          <a:prstGeom prst="roundRect">
            <a:avLst>
              <a:gd name="adj" fmla="val 6667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526280"/>
            <a:ext cx="548640" cy="5486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600200" y="411480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número = várias empresas simuladas</a:t>
            </a:r>
            <a:endParaRPr lang="en-US" sz="2200" dirty="0"/>
          </a:p>
        </p:txBody>
      </p:sp>
      <p:sp>
        <p:nvSpPr>
          <p:cNvPr id="11" name="Text 6"/>
          <p:cNvSpPr txBox="1"/>
          <p:nvPr/>
        </p:nvSpPr>
        <p:spPr>
          <a:xfrm>
            <a:off x="6858000" y="2194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gerados:</a:t>
            </a:r>
            <a:endParaRPr lang="en-US" sz="2000" dirty="0"/>
          </a:p>
        </p:txBody>
      </p:sp>
      <p:sp>
        <p:nvSpPr>
          <p:cNvPr id="12" name="Text 7"/>
          <p:cNvSpPr txBox="1"/>
          <p:nvPr/>
        </p:nvSpPr>
        <p:spPr>
          <a:xfrm>
            <a:off x="6858000" y="2788920"/>
            <a:ext cx="228600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9326880" y="2788920"/>
            <a:ext cx="228600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médio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6858000" y="3566160"/>
            <a:ext cx="228600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9326880" y="3566160"/>
            <a:ext cx="228600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6858000" y="4343400"/>
            <a:ext cx="228600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Funcionários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9326880" y="4343400"/>
            <a:ext cx="228600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 da empresa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858000" y="5120640"/>
            <a:ext cx="228600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402336" cy="40233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0876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DataFrame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tabela: cada linha é uma empresa.</a:t>
            </a:r>
            <a:endParaRPr lang="en-US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194560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/>
        </p:spPr>
        <p:txBody>
          <a:bodyPr wrap="square" lIns="127000" tIns="203200" rIns="203200" bIns="12700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pd.DataFrame(dados)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66160"/>
          <a:ext cx="11064240" cy="914400"/>
        </p:xfrm>
        <a:graphic>
          <a:graphicData uri="http://schemas.openxmlformats.org/drawingml/2006/table">
            <a:tbl>
              <a:tblPr/>
              <a:tblGrid>
                <a:gridCol w="2766060"/>
                <a:gridCol w="2766060"/>
                <a:gridCol w="2766060"/>
                <a:gridCol w="2766060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Investimento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Conversão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R$ 10.000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R$ 20.000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402336" cy="40233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0876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Cálculo da receita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comprou × preço = receita.</a:t>
            </a:r>
            <a:endParaRPr lang="en-US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194560"/>
            <a:ext cx="6035040" cy="1783080"/>
          </a:xfrm>
          <a:prstGeom prst="roundRect">
            <a:avLst>
              <a:gd name="adj" fmla="val 6154"/>
            </a:avLst>
          </a:prstGeom>
          <a:solidFill>
            <a:srgbClr val="0F172A"/>
          </a:solidFill>
          <a:ln/>
        </p:spPr>
        <p:txBody>
          <a:bodyPr wrap="square" lIns="127000" tIns="203200" rIns="203200" bIns="12700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df["clientes_convertidos"] = (</a:t>
            </a:r>
            <a:endParaRPr lang="en-US" sz="1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df["clientes"] *</a:t>
            </a:r>
            <a:endParaRPr lang="en-US" sz="1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df["conversao"] / 100</a:t>
            </a:r>
            <a:endParaRPr lang="en-US" sz="1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251960"/>
            <a:ext cx="6035040" cy="1783080"/>
          </a:xfrm>
          <a:prstGeom prst="roundRect">
            <a:avLst>
              <a:gd name="adj" fmla="val 6154"/>
            </a:avLst>
          </a:prstGeom>
          <a:solidFill>
            <a:srgbClr val="0F172A"/>
          </a:solidFill>
          <a:ln/>
        </p:spPr>
        <p:txBody>
          <a:bodyPr wrap="square" lIns="127000" tIns="203200" rIns="203200" bIns="12700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df["receita"] = (</a:t>
            </a:r>
            <a:endParaRPr lang="en-US" sz="1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df["clientes_convertidos"] *</a:t>
            </a:r>
            <a:endParaRPr lang="en-US" sz="1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df["ticket_medio"]</a:t>
            </a:r>
            <a:endParaRPr lang="en-US" sz="1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7223760" y="2194560"/>
            <a:ext cx="4389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D9488"/>
            </a:solidFill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× conversão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9189720" y="3154680"/>
            <a:ext cx="457200" cy="365760"/>
          </a:xfrm>
          <a:prstGeom prst="down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223760" y="3566160"/>
            <a:ext cx="4389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D9488"/>
            </a:solidFill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Clientes convertidos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9189720" y="4526280"/>
            <a:ext cx="457200" cy="365760"/>
          </a:xfrm>
          <a:prstGeom prst="down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223760" y="4937760"/>
            <a:ext cx="4389120" cy="91440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 w="19050">
            <a:solidFill>
              <a:srgbClr val="0D9488"/>
            </a:solidFill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Ticket médio = Receita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402336" cy="40233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0876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Custos e lucro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Lucro é o que sobra depois dos custos.</a:t>
            </a:r>
            <a:endParaRPr lang="en-US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194560"/>
            <a:ext cx="6400800" cy="2011680"/>
          </a:xfrm>
          <a:prstGeom prst="roundRect">
            <a:avLst>
              <a:gd name="adj" fmla="val 5455"/>
            </a:avLst>
          </a:prstGeom>
          <a:solidFill>
            <a:srgbClr val="0F172A"/>
          </a:solidFill>
          <a:ln/>
        </p:spPr>
        <p:txBody>
          <a:bodyPr wrap="square" lIns="127000" tIns="203200" rIns="203200" bIns="12700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df["custos"] = (</a:t>
            </a:r>
            <a:endParaRPr lang="en-US" sz="1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df["investimento"] +</a:t>
            </a:r>
            <a:endParaRPr lang="en-US" sz="1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df["gastos_marketing"] +</a:t>
            </a:r>
            <a:endParaRPr lang="en-US" sz="1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(df["funcionarios"] * 2000)</a:t>
            </a:r>
            <a:endParaRPr lang="en-US" sz="1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480560"/>
            <a:ext cx="6400800" cy="1600200"/>
          </a:xfrm>
          <a:prstGeom prst="roundRect">
            <a:avLst>
              <a:gd name="adj" fmla="val 6857"/>
            </a:avLst>
          </a:prstGeom>
          <a:solidFill>
            <a:srgbClr val="0F172A"/>
          </a:solidFill>
          <a:ln/>
        </p:spPr>
        <p:txBody>
          <a:bodyPr wrap="square" lIns="127000" tIns="203200" rIns="203200" bIns="12700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df["lucro"] = (</a:t>
            </a:r>
            <a:endParaRPr lang="en-US" sz="1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df["receita"] -</a:t>
            </a:r>
            <a:endParaRPr lang="en-US" sz="1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df["custos"]</a:t>
            </a:r>
            <a:endParaRPr lang="en-US" sz="1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7406640" y="2194560"/>
            <a:ext cx="4206240" cy="3886200"/>
          </a:xfrm>
          <a:prstGeom prst="roundRect">
            <a:avLst>
              <a:gd name="adj" fmla="val 282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7406640" y="25603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Lucro</a:t>
            </a:r>
            <a:endParaRPr lang="en-US" sz="3600" dirty="0"/>
          </a:p>
        </p:txBody>
      </p:sp>
      <p:sp>
        <p:nvSpPr>
          <p:cNvPr id="11" name="Text 7"/>
          <p:cNvSpPr txBox="1"/>
          <p:nvPr/>
        </p:nvSpPr>
        <p:spPr>
          <a:xfrm>
            <a:off x="7406640" y="32461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Receita − Custos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7772400" y="420624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 = investimento + marketing + funcionários × R$ 2.000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402336" cy="40233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0876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Lucro ou prejuízo?</a:t>
            </a:r>
            <a:endParaRPr lang="en-US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194560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/>
        </p:spPr>
        <p:txBody>
          <a:bodyPr wrap="square" lIns="127000" tIns="203200" rIns="203200" bIns="12700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df["resultado"] = df["lucro"] &gt; 0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548640" y="3383280"/>
            <a:ext cx="5349240" cy="2743200"/>
          </a:xfrm>
          <a:prstGeom prst="roundRect">
            <a:avLst>
              <a:gd name="adj" fmla="val 4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794760"/>
            <a:ext cx="822960" cy="82296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011680" y="36576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47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</a:t>
            </a:r>
            <a:endParaRPr lang="en-US" sz="4000" dirty="0"/>
          </a:p>
        </p:txBody>
      </p:sp>
      <p:sp>
        <p:nvSpPr>
          <p:cNvPr id="11" name="Text 6"/>
          <p:cNvSpPr txBox="1"/>
          <p:nvPr/>
        </p:nvSpPr>
        <p:spPr>
          <a:xfrm>
            <a:off x="2011680" y="4389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lucro &gt; 0</a:t>
            </a:r>
            <a:endParaRPr lang="en-US" sz="2000" dirty="0"/>
          </a:p>
        </p:txBody>
      </p:sp>
      <p:sp>
        <p:nvSpPr>
          <p:cNvPr id="12" name="Text 7"/>
          <p:cNvSpPr txBox="1"/>
          <p:nvPr/>
        </p:nvSpPr>
        <p:spPr>
          <a:xfrm>
            <a:off x="914400" y="51206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com lucro</a:t>
            </a:r>
            <a:endParaRPr lang="en-US" sz="2400" dirty="0"/>
          </a:p>
        </p:txBody>
      </p:sp>
      <p:sp>
        <p:nvSpPr>
          <p:cNvPr id="13" name="Shape 8"/>
          <p:cNvSpPr/>
          <p:nvPr/>
        </p:nvSpPr>
        <p:spPr>
          <a:xfrm>
            <a:off x="6263640" y="3383280"/>
            <a:ext cx="5349240" cy="2743200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3794760"/>
            <a:ext cx="822960" cy="82296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726680" y="36576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</a:t>
            </a:r>
            <a:endParaRPr lang="en-US" sz="4000" dirty="0"/>
          </a:p>
        </p:txBody>
      </p:sp>
      <p:sp>
        <p:nvSpPr>
          <p:cNvPr id="16" name="Text 10"/>
          <p:cNvSpPr txBox="1"/>
          <p:nvPr/>
        </p:nvSpPr>
        <p:spPr>
          <a:xfrm>
            <a:off x="7726680" y="4389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lucro &lt; 0</a:t>
            </a:r>
            <a:endParaRPr lang="en-US" sz="2000" dirty="0"/>
          </a:p>
        </p:txBody>
      </p:sp>
      <p:sp>
        <p:nvSpPr>
          <p:cNvPr id="17" name="Text 11"/>
          <p:cNvSpPr txBox="1"/>
          <p:nvPr/>
        </p:nvSpPr>
        <p:spPr>
          <a:xfrm>
            <a:off x="6629400" y="51206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com prejuízo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402336" cy="40233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0876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estatística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comando resume todos os dados.</a:t>
            </a:r>
            <a:endParaRPr lang="en-US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103120"/>
            <a:ext cx="3840480" cy="82296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/>
        </p:spPr>
        <p:txBody>
          <a:bodyPr wrap="square" lIns="127000" tIns="203200" rIns="203200" bIns="12700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df.describe()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548640" y="329184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822960" y="32918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2600" dirty="0"/>
          </a:p>
          <a:p>
            <a:pPr indent="0" marL="0">
              <a:buNone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médio</a:t>
            </a:r>
            <a:endParaRPr lang="en-US" sz="2600" dirty="0"/>
          </a:p>
        </p:txBody>
      </p:sp>
      <p:sp>
        <p:nvSpPr>
          <p:cNvPr id="10" name="Shape 6"/>
          <p:cNvSpPr/>
          <p:nvPr/>
        </p:nvSpPr>
        <p:spPr>
          <a:xfrm>
            <a:off x="4297680" y="329184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4572000" y="32918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</a:t>
            </a:r>
            <a:endParaRPr lang="en-US" sz="2600" dirty="0"/>
          </a:p>
          <a:p>
            <a:pPr indent="0" marL="0">
              <a:buNone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central</a:t>
            </a:r>
            <a:endParaRPr lang="en-US" sz="2600" dirty="0"/>
          </a:p>
        </p:txBody>
      </p:sp>
      <p:sp>
        <p:nvSpPr>
          <p:cNvPr id="12" name="Shape 8"/>
          <p:cNvSpPr/>
          <p:nvPr/>
        </p:nvSpPr>
        <p:spPr>
          <a:xfrm>
            <a:off x="8046720" y="329184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8321040" y="32918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Desvio padrão</a:t>
            </a:r>
            <a:endParaRPr lang="en-US" sz="2600" dirty="0"/>
          </a:p>
          <a:p>
            <a:pPr indent="0" marL="0">
              <a:buNone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varia</a:t>
            </a:r>
            <a:endParaRPr lang="en-US" sz="2600" dirty="0"/>
          </a:p>
        </p:txBody>
      </p:sp>
      <p:sp>
        <p:nvSpPr>
          <p:cNvPr id="14" name="Shape 10"/>
          <p:cNvSpPr/>
          <p:nvPr/>
        </p:nvSpPr>
        <p:spPr>
          <a:xfrm>
            <a:off x="548640" y="484632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822960" y="48463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</a:t>
            </a:r>
            <a:endParaRPr lang="en-US" sz="2600" dirty="0"/>
          </a:p>
          <a:p>
            <a:pPr indent="0" marL="0">
              <a:buNone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valor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4297680" y="484632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4572000" y="48463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</a:t>
            </a:r>
            <a:endParaRPr lang="en-US" sz="2600" dirty="0"/>
          </a:p>
          <a:p>
            <a:pPr indent="0" marL="0">
              <a:buNone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valor</a:t>
            </a:r>
            <a:endParaRPr lang="en-US" sz="2600" dirty="0"/>
          </a:p>
        </p:txBody>
      </p:sp>
      <p:sp>
        <p:nvSpPr>
          <p:cNvPr id="18" name="Shape 14"/>
          <p:cNvSpPr/>
          <p:nvPr/>
        </p:nvSpPr>
        <p:spPr>
          <a:xfrm>
            <a:off x="8046720" y="484632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8321040" y="48463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Quartis</a:t>
            </a:r>
            <a:endParaRPr lang="en-US" sz="2600" dirty="0"/>
          </a:p>
          <a:p>
            <a:pPr indent="0" marL="0">
              <a:buNone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em 4 partes</a:t>
            </a:r>
            <a:endParaRPr lang="en-US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402336" cy="40233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0876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Média e mediana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jeitos de achar o “meio” dos dados.</a:t>
            </a:r>
            <a:endParaRPr lang="en-US" sz="2200" dirty="0"/>
          </a:p>
        </p:txBody>
      </p:sp>
      <p:sp>
        <p:nvSpPr>
          <p:cNvPr id="7" name="Shape 3"/>
          <p:cNvSpPr/>
          <p:nvPr/>
        </p:nvSpPr>
        <p:spPr>
          <a:xfrm>
            <a:off x="548640" y="2194560"/>
            <a:ext cx="534924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914400" y="23774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Média</a:t>
            </a:r>
            <a:endParaRPr lang="en-US" sz="32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3200400"/>
            <a:ext cx="4617720" cy="73152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/>
        </p:spPr>
        <p:txBody>
          <a:bodyPr wrap="square" lIns="127000" tIns="203200" rIns="203200" bIns="12700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df["lucro"].mean()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41605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médio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48920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 2, 9  →  média = 4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6263640" y="2194560"/>
            <a:ext cx="534924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6629400" y="23774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Mediana</a:t>
            </a:r>
            <a:endParaRPr lang="en-US" sz="3200" dirty="0"/>
          </a:p>
        </p:txBody>
      </p:sp>
      <p:sp>
        <p:nvSpPr>
          <p:cNvPr id="14" name="Text 10"/>
          <p:cNvSpPr txBox="1"/>
          <p:nvPr/>
        </p:nvSpPr>
        <p:spPr>
          <a:xfrm>
            <a:off x="6629400" y="3200400"/>
            <a:ext cx="4617720" cy="73152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/>
        </p:spPr>
        <p:txBody>
          <a:bodyPr wrap="square" lIns="127000" tIns="203200" rIns="203200" bIns="12700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df["lucro"].median()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629400" y="41605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do meio</a:t>
            </a:r>
            <a:endParaRPr lang="en-US" sz="2400" dirty="0"/>
          </a:p>
        </p:txBody>
      </p:sp>
      <p:sp>
        <p:nvSpPr>
          <p:cNvPr id="16" name="Text 12"/>
          <p:cNvSpPr txBox="1"/>
          <p:nvPr/>
        </p:nvSpPr>
        <p:spPr>
          <a:xfrm>
            <a:off x="6629400" y="48920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 2, 9  →  mediana = 2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402336" cy="40233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0876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Desvio padrão e distribuição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desvio mostra o quanto os valores se espalham.</a:t>
            </a:r>
            <a:endParaRPr lang="en-US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103120"/>
            <a:ext cx="4572000" cy="4023360"/>
          </a:xfrm>
          <a:prstGeom prst="roundRect">
            <a:avLst>
              <a:gd name="adj" fmla="val 2727"/>
            </a:avLst>
          </a:prstGeom>
          <a:solidFill>
            <a:srgbClr val="0F172A"/>
          </a:solidFill>
          <a:ln/>
        </p:spPr>
        <p:txBody>
          <a:bodyPr wrap="square" lIns="127000" tIns="203200" rIns="203200" bIns="12700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df["lucro"].std()</a:t>
            </a:r>
            <a:endParaRPr lang="en-US" sz="1800" dirty="0"/>
          </a:p>
          <a:p>
            <a:pPr algn="l" indent="0" marL="0">
              <a:lnSpc>
                <a:spcPct val="110000"/>
              </a:lnSpc>
              <a:buNone/>
            </a:pPr>
            <a:endParaRPr lang="en-US" sz="1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plt.hist(</a:t>
            </a:r>
            <a:endParaRPr lang="en-US" sz="1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df["lucro"],</a:t>
            </a:r>
            <a:endParaRPr lang="en-US" sz="1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bins=30,</a:t>
            </a:r>
            <a:endParaRPr lang="en-US" sz="1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density=True</a:t>
            </a:r>
            <a:endParaRPr lang="en-US" sz="1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0" y="2103120"/>
          <a:ext cx="61722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4"/>
          <p:cNvSpPr txBox="1"/>
          <p:nvPr/>
        </p:nvSpPr>
        <p:spPr>
          <a:xfrm>
            <a:off x="5486400" y="5715000"/>
            <a:ext cx="6172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= centro do sino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402336" cy="40233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0876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se duas variáveis andam juntas.</a:t>
            </a:r>
            <a:endParaRPr lang="en-US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103120"/>
            <a:ext cx="11064240" cy="1737360"/>
          </a:xfrm>
          <a:prstGeom prst="roundRect">
            <a:avLst>
              <a:gd name="adj" fmla="val 6316"/>
            </a:avLst>
          </a:prstGeom>
          <a:solidFill>
            <a:srgbClr val="0F172A"/>
          </a:solidFill>
          <a:ln/>
        </p:spPr>
        <p:txBody>
          <a:bodyPr wrap="square" lIns="127000" tIns="203200" rIns="203200" bIns="12700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correlacao = df.corr(numeric_only=True)</a:t>
            </a:r>
            <a:endParaRPr lang="en-US" sz="1800" dirty="0"/>
          </a:p>
          <a:p>
            <a:pPr algn="l" indent="0" marL="0">
              <a:lnSpc>
                <a:spcPct val="110000"/>
              </a:lnSpc>
              <a:buNone/>
            </a:pPr>
            <a:endParaRPr lang="en-US" sz="1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print(correlacao["lucro"]</a:t>
            </a:r>
            <a:endParaRPr lang="en-US" sz="1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.sort_values(ascending=False))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206240"/>
            <a:ext cx="3566160" cy="822960"/>
          </a:xfrm>
          <a:prstGeom prst="roundRect">
            <a:avLst>
              <a:gd name="adj" fmla="val 11111"/>
            </a:avLst>
          </a:prstGeom>
          <a:solidFill>
            <a:srgbClr val="FCA5A5"/>
          </a:solidFill>
          <a:ln>
            <a:solidFill>
              <a:srgbClr val="FCA5A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</a:t>
            </a:r>
            <a:endParaRPr lang="en-US" sz="36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120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 negativa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4297680" y="4206240"/>
            <a:ext cx="3566160" cy="822960"/>
          </a:xfrm>
          <a:prstGeom prst="roundRect">
            <a:avLst>
              <a:gd name="adj" fmla="val 11111"/>
            </a:avLst>
          </a:prstGeom>
          <a:solidFill>
            <a:srgbClr val="CBD5E1"/>
          </a:solidFill>
          <a:ln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600" dirty="0"/>
          </a:p>
        </p:txBody>
      </p:sp>
      <p:sp>
        <p:nvSpPr>
          <p:cNvPr id="11" name="Text 7"/>
          <p:cNvSpPr txBox="1"/>
          <p:nvPr/>
        </p:nvSpPr>
        <p:spPr>
          <a:xfrm>
            <a:off x="4297680" y="5120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pouca relação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8046720" y="4206240"/>
            <a:ext cx="3566160" cy="822960"/>
          </a:xfrm>
          <a:prstGeom prst="roundRect">
            <a:avLst>
              <a:gd name="adj" fmla="val 11111"/>
            </a:avLst>
          </a:prstGeom>
          <a:solidFill>
            <a:srgbClr val="5EEAD4"/>
          </a:solidFill>
          <a:ln>
            <a:solidFill>
              <a:srgbClr val="5EEAD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</a:t>
            </a:r>
            <a:endParaRPr lang="en-US" sz="3600" dirty="0"/>
          </a:p>
        </p:txBody>
      </p:sp>
      <p:sp>
        <p:nvSpPr>
          <p:cNvPr id="13" name="Text 9"/>
          <p:cNvSpPr txBox="1"/>
          <p:nvPr/>
        </p:nvSpPr>
        <p:spPr>
          <a:xfrm>
            <a:off x="8046720" y="5120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 positiva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não é causa!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402336" cy="40233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0876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árvore de decisão aprende padrões e classifica cada empresa.</a:t>
            </a:r>
            <a:endParaRPr lang="en-US" sz="2200" dirty="0"/>
          </a:p>
        </p:txBody>
      </p:sp>
      <p:sp>
        <p:nvSpPr>
          <p:cNvPr id="7" name="Shape 3"/>
          <p:cNvSpPr/>
          <p:nvPr/>
        </p:nvSpPr>
        <p:spPr>
          <a:xfrm>
            <a:off x="548640" y="2194560"/>
            <a:ext cx="23774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1325880" y="2423160"/>
            <a:ext cx="822960" cy="8229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336" y="2642616"/>
            <a:ext cx="384048" cy="38404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40080" y="3383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2000" dirty="0"/>
          </a:p>
        </p:txBody>
      </p:sp>
      <p:sp>
        <p:nvSpPr>
          <p:cNvPr id="11" name="Shape 6"/>
          <p:cNvSpPr/>
          <p:nvPr/>
        </p:nvSpPr>
        <p:spPr>
          <a:xfrm>
            <a:off x="2999232" y="3063240"/>
            <a:ext cx="365760" cy="365760"/>
          </a:xfrm>
          <a:prstGeom prst="right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3429000" y="2194560"/>
            <a:ext cx="23774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4206240" y="2423160"/>
            <a:ext cx="822960" cy="8229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696" y="2642616"/>
            <a:ext cx="384048" cy="38404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520440" y="3383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2000" dirty="0"/>
          </a:p>
        </p:txBody>
      </p:sp>
      <p:sp>
        <p:nvSpPr>
          <p:cNvPr id="16" name="Shape 10"/>
          <p:cNvSpPr/>
          <p:nvPr/>
        </p:nvSpPr>
        <p:spPr>
          <a:xfrm>
            <a:off x="5879592" y="3063240"/>
            <a:ext cx="365760" cy="365760"/>
          </a:xfrm>
          <a:prstGeom prst="right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6309360" y="2194560"/>
            <a:ext cx="23774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7086600" y="2423160"/>
            <a:ext cx="822960" cy="8229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6056" y="2642616"/>
            <a:ext cx="384048" cy="384048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400800" y="3383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 de decisão</a:t>
            </a:r>
            <a:endParaRPr lang="en-US" sz="2000" dirty="0"/>
          </a:p>
        </p:txBody>
      </p:sp>
      <p:sp>
        <p:nvSpPr>
          <p:cNvPr id="21" name="Shape 14"/>
          <p:cNvSpPr/>
          <p:nvPr/>
        </p:nvSpPr>
        <p:spPr>
          <a:xfrm>
            <a:off x="8759952" y="3063240"/>
            <a:ext cx="365760" cy="365760"/>
          </a:xfrm>
          <a:prstGeom prst="right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9189720" y="2194560"/>
            <a:ext cx="23774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966960" y="2423160"/>
            <a:ext cx="822960" cy="8229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6416" y="2642616"/>
            <a:ext cx="384048" cy="384048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9281160" y="3383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</a:t>
            </a:r>
            <a:endParaRPr lang="en-US" sz="2000" dirty="0"/>
          </a:p>
        </p:txBody>
      </p:sp>
      <p:sp>
        <p:nvSpPr>
          <p:cNvPr id="26" name="Text 18"/>
          <p:cNvSpPr txBox="1"/>
          <p:nvPr/>
        </p:nvSpPr>
        <p:spPr>
          <a:xfrm>
            <a:off x="548640" y="475488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/>
        </p:spPr>
        <p:txBody>
          <a:bodyPr wrap="square" lIns="127000" tIns="203200" rIns="203200" bIns="12700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= DecisionTreeClassifier(random_state=42)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402336" cy="40233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0876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Treino, teste e acurácia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Treinamos com uma parte e testamos com a outra.</a:t>
            </a:r>
            <a:endParaRPr lang="en-US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103120"/>
            <a:ext cx="6675120" cy="4114800"/>
          </a:xfrm>
          <a:prstGeom prst="roundRect">
            <a:avLst>
              <a:gd name="adj" fmla="val 2667"/>
            </a:avLst>
          </a:prstGeom>
          <a:solidFill>
            <a:srgbClr val="0F172A"/>
          </a:solidFill>
          <a:ln/>
        </p:spPr>
        <p:txBody>
          <a:bodyPr wrap="square" lIns="127000" tIns="203200" rIns="203200" bIns="12700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X_treino, X_teste, y_treino, y_teste = train_test_split(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X,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y,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test_size=0.2,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random_state=42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modelo.fit(X_treino, y_treino)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previsoes = modelo.predict(X_teste)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acuracia = accuracy_score(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y_teste,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previsoes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7589520" y="2194560"/>
            <a:ext cx="3200400" cy="822960"/>
          </a:xfrm>
          <a:prstGeom prst="roundRect">
            <a:avLst>
              <a:gd name="adj" fmla="val 11111"/>
            </a:avLst>
          </a:prstGeom>
          <a:solidFill>
            <a:srgbClr val="0D9488"/>
          </a:solidFill>
          <a:ln>
            <a:solidFill>
              <a:srgbClr val="0D948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2800" dirty="0"/>
          </a:p>
        </p:txBody>
      </p:sp>
      <p:sp>
        <p:nvSpPr>
          <p:cNvPr id="9" name="Text 5"/>
          <p:cNvSpPr txBox="1"/>
          <p:nvPr/>
        </p:nvSpPr>
        <p:spPr>
          <a:xfrm>
            <a:off x="10881360" y="2194560"/>
            <a:ext cx="777240" cy="822960"/>
          </a:xfrm>
          <a:prstGeom prst="roundRect">
            <a:avLst>
              <a:gd name="adj" fmla="val 11765"/>
            </a:avLst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7589520" y="3108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0789920" y="310896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7589520" y="3931920"/>
            <a:ext cx="4069080" cy="2286000"/>
          </a:xfrm>
          <a:prstGeom prst="roundRect">
            <a:avLst>
              <a:gd name="adj" fmla="val 48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589520" y="434340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Acurácia</a:t>
            </a:r>
            <a:endParaRPr lang="en-US" sz="34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0" y="512064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previsões certas no teste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731520" y="1920240"/>
            <a:ext cx="822960" cy="8229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4884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37360" y="19202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os dados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389120" y="1920240"/>
            <a:ext cx="822960" cy="8229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1488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394960" y="19202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distribuições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8046720" y="1920240"/>
            <a:ext cx="822960" cy="8229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214884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052560" y="19202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e desvio padrão</a:t>
            </a:r>
            <a:endParaRPr lang="en-US" sz="2000" dirty="0"/>
          </a:p>
        </p:txBody>
      </p:sp>
      <p:sp>
        <p:nvSpPr>
          <p:cNvPr id="12" name="Shape 7"/>
          <p:cNvSpPr/>
          <p:nvPr/>
        </p:nvSpPr>
        <p:spPr>
          <a:xfrm>
            <a:off x="731520" y="3383280"/>
            <a:ext cx="822960" cy="8229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61188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737360" y="33832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correlações</a:t>
            </a:r>
            <a:endParaRPr lang="en-US" sz="2000" dirty="0"/>
          </a:p>
        </p:txBody>
      </p:sp>
      <p:sp>
        <p:nvSpPr>
          <p:cNvPr id="15" name="Shape 9"/>
          <p:cNvSpPr/>
          <p:nvPr/>
        </p:nvSpPr>
        <p:spPr>
          <a:xfrm>
            <a:off x="4389120" y="3383280"/>
            <a:ext cx="822960" cy="8229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3611880"/>
            <a:ext cx="365760" cy="36576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5394960" y="33832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Treinar uma árvore</a:t>
            </a:r>
            <a:endParaRPr lang="en-US" sz="2000" dirty="0"/>
          </a:p>
        </p:txBody>
      </p:sp>
      <p:sp>
        <p:nvSpPr>
          <p:cNvPr id="18" name="Shape 11"/>
          <p:cNvSpPr/>
          <p:nvPr/>
        </p:nvSpPr>
        <p:spPr>
          <a:xfrm>
            <a:off x="8046720" y="3383280"/>
            <a:ext cx="822960" cy="8229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0" y="3611880"/>
            <a:ext cx="365760" cy="36576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9052560" y="33832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previsões</a:t>
            </a:r>
            <a:endParaRPr lang="en-US" sz="2000" dirty="0"/>
          </a:p>
        </p:txBody>
      </p:sp>
      <p:sp>
        <p:nvSpPr>
          <p:cNvPr id="21" name="Text 13"/>
          <p:cNvSpPr txBox="1"/>
          <p:nvPr/>
        </p:nvSpPr>
        <p:spPr>
          <a:xfrm>
            <a:off x="731520" y="52120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geração dos dados até o modelo preditivo.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Simulação e análise de empresas</dc:title>
  <dc:subject>PptxGenJS Presentation</dc:subject>
  <dc:creator>PptxGenJS</dc:creator>
  <cp:lastModifiedBy>PptxGenJS</cp:lastModifiedBy>
  <cp:revision>1</cp:revision>
  <dcterms:created xsi:type="dcterms:W3CDTF">2026-09-21T03:51:50Z</dcterms:created>
  <dcterms:modified xsi:type="dcterms:W3CDTF">2026-09-21T03:51:50Z</dcterms:modified>
</cp:coreProperties>
</file>